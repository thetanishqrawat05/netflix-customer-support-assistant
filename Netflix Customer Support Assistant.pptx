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C4332293-6A45-E2FA-A705-193E5257747E}">
          <p14:sldIdLst>
            <p14:sldId id="256"/>
            <p14:sldId id="257"/>
          </p14:sldIdLst>
        </p14:section>
        <p14:section name="Solution" id="{60FDC068-0B84-7018-CBC5-C032540CCBAA}">
          <p14:sldIdLst>
            <p14:sldId id="258"/>
            <p14:sldId id="259"/>
            <p14:sldId id="260"/>
            <p14:sldId id="261"/>
            <p14:sldId id="262"/>
          </p14:sldIdLst>
        </p14:section>
        <p14:section name="Evaluation" id="{552F2349-E948-6A4B-8F9A-3B0B9677EFA4}">
          <p14:sldIdLst>
            <p14:sldId id="263"/>
            <p14:sldId id="264"/>
            <p14:sldId id="265"/>
            <p14:sldId id="266"/>
          </p14:sldIdLst>
        </p14:section>
        <p14:section name="Wrap-up" id="{603FA082-E826-7815-1B3C-05D3355395B6}">
          <p14:sldIdLst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8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(about 30 seconds)
- Introduce the engagement: an AI consultant's proof-of-concept for a Netflix customer-support assistant built with Retrieval-Augmented Generation (RAG).
- The assistant is called Ava. It answers only from approved help-center content and shows the evidence behind every answer.
- PRESENTER CHECK: replace [Your Name] and [Date] on this slide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-&gt; SOLUTION -&gt; VALUE
- Support teams spend a large share of effort on repetitive billing, account and streaming questions whose answers already exist in help-center documentation.
- Ava is a RAG assistant: it retrieves relevant passages from the knowledge base first, then writes an answer constrained to those passages.
- Why not a plain chatbot? A general LLM answers from training data and can state wrong plans, prices or policies with confidence. Grounding plus visible sources makes answers auditable.
- Be careful with wording: the benefits (faster resolution, lower cost) are EXPECTED, not measured in this project. Grounding reduces hallucination risk; it does not guarantee zero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READ THE DIAGRAM
- Top lane (offline): the four documents are loaded, split into 500-character chunks with 80 characters of overlap, embedded with all-MiniLM-L6-v2 into 384-dimensional vectors, and stored in a local Chroma database. This is done ahead of time.
- Bottom lane (online): after Mock Login, the user's question is embedded with the same model, the top-k most similar chunks are retrieved from Chroma, and the prompt (Ava persona + answer format + retrieved context) is sent to the LLM. The UI shows Retrieval Reasoning, the Answer, and the Retrieved Chunks.
- The dashed red boundary shows that the whole RAG engine is only reachable after login.
- Retrieval quality and generation quality are separate: if the wrong chunks are retrieved, even a strong LLM cannot answer correctly from them.
- PRESENTER CHECK: confirm in the code which provider is the default (Groq vs OpenAI). The deck shows Groq gpt-oss-120b as primary and gpt-4o-mini as an alternative option; it does not claim both run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DIFFERENT MODEL ROLES
- all-MiniLM-L6-v2 is an embedding model (a small encoder). It turns text into 384-dimensional vectors for similarity search. It does not generate conversational answers, so it cannot substitute for the generation-model decision.
- The generation decision is LLM vs SLM. openai/gpt-oss-120b on Groq is the large model: strong instruction following is needed for the persona lock, the retrieval-rationale format and reliable refusals. Note it is a Mixture-of-Experts model, so only about 5.1B parameters are active per token, which helps latency and cost.
- Trade-offs, not a universal winner: a small model is cheaper, faster and can run locally for privacy; a large model is usually better at following many simultaneous rules.
- Not evidenced here: a head-to-head test of a small generation model. A natural next experiment is to run the same 7-question evaluation with a small open model.
- Alternative gpt-4o-mini is shown only as a configurable provider option, not as a second model used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BASE DESIGN
- Four plain-text documents simulate a real help center: Billing &amp; Plans, Account &amp; Security, Streaming &amp; Playback, and an Internal Brand-Voice / Escalation Policy.
- Three are customer-facing topics. The fourth is an internal policy document that shapes tone and escalation behavior.
- Be explicit and honest: this is simulated, help-center-style content, not real Netflix internal documentation.
- Unstructured text is turned into a searchable knowledge base by chunking it, embedding each chunk, and indexing the vectors in Chroma (next slide).
- PRESENTER CHECK: the one-line topic descriptions on the cards are generic summaries inferred from the document names. Adjust them to match the actual file contents.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CHUNK?
- Documents are too long to embed as a single vector and retrieve precisely, so they are split into chunks. Smaller chunks give sharper retrieval but may lose context; larger chunks keep context but blur the match. 500 characters balances the two for short help-center passages.
- Overlap (80 characters) means neighboring chunks share a little text, so information near a boundary is not lost.
- The splitter measures size in characters by default (LangChain's RecursiveCharacterTextSplitter), trying paragraph, line, then word separators in order. The to-scale diagram is illustrative: real boundaries follow the text.
- Embeddings place semantically similar text close together in a 384-dimensional vector space, so a question like 'change my card' can match a passage about updating payment methods even without identical words.
- Chunk size is not a model context limit. all-MiniLM-L6-v2 truncates input beyond 256 word pieces; the LLM's 131K-token window is a different constraint. A 500-character chunk is well inside the embedder's limit.
- PRESENTER CHECK: confirm 500/80 and the splitter class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AND PROMPT PATTERN
- Ava is a strict brand-voice persona: Netflix customer-support tone, grounded only in the supplied context, respecting documented authorization limits, and refusing clearly when the context is insufficient.
- The assignment asks for Chain-of-Thought so the model explains its retrieval logic before the final answer. In this app that is a 'Retrieval Reasoning' section followed by the 'Answer'. Present it as a concise, user-facing rationale (which sources were retrieved and why they are relevant), not as the model's private internal reasoning.
- The user can verify the answer by opening the Retrieved Chunks panel and checking that the claims appear in the sources.
- Prompt rules guide behavior but are not a hard guarantee; that is why the app also shows evidence.
- PRESENTER CHECK: the code panel is a simplified paraphrase. Compare it with the real system prompt in the repo and adjust wording if you want it to match more closely.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TEMPERATURE AND TOP-P DO
- Temperature rescales the model's next-token probabilities: low values make the most likely token dominate (more deterministic), high values flatten the distribution (more varied). Top-P (nucleus sampling) restricts sampling to the smallest set of tokens whose cumulative probability reaches P. At temperature 0.0 decoding is close to greedy, so Top-P has little practical influence; exact behavior depends on the model and provider.
- A low temperature is a sensible starting point for factual support answers, but it does not guarantee factual accuracy: the model can still misread context or retrieval can still fetch the wrong chunks.
- The three presets are factual_strict (0.0 / 0.9), balanced (0.3 / 0.9) and creative (0.8 / 0.95). The ranking shown (Highest / Medium-high / Lowest grounding and refusal accuracy) is the author's qualitative observation. No numeric scores were provided, so none are shown.
- Limitation to mention: factual_strict and balanced differ only in temperature, but creative also changes Top-P, so the effect of each parameter is not fully isolated. Provider guidance (e.g. the OpenAI API reference) generally suggests adjusting temperature or Top-P rather than both.
- PRESENTER CHECK: if you have raw per-question results, add real numbers here and drop the 'QUALITATIVE' badge.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SLIDE</a:t>
            </a:r>
          </a:p>
          <a:p>
            <a:r>
              <a:rPr lang="en-US" dirty="0"/>
              <a:t>- Four screenshots from the running Streamlit app. In Slide Show mode, click any screenshot to enlarge it to full screen; click it again to return to the grid.</a:t>
            </a:r>
          </a:p>
          <a:p>
            <a:r>
              <a:rPr lang="en-US" dirty="0"/>
              <a:t>- 1) Chat view with the collapsed “How Ava found this (retrieval reasoning)” panel and the Session stats block (questions, average response time, average first-token time, thumbs up/down), plus Browse Knowledge Base and Download transcript.</a:t>
            </a:r>
          </a:p>
          <a:p>
            <a:r>
              <a:rPr lang="en-US" dirty="0"/>
              <a:t>- 2) Logged-in state (“Logged in as admin” after Mock Login), Log out and Clear chat buttons, and the Generation Settings (preset, temperature, Top-P). The answer shows its source file with a relevance score, a collapsed Retrieved Chunks panel (4 chunks) and first-token / total latency.</a:t>
            </a:r>
          </a:p>
          <a:p>
            <a:r>
              <a:rPr lang="en-US" dirty="0"/>
              <a:t>- 3) Sidebar settings (chunks retrieved top_k = 4, Remember conversation toggle, model openai/gpt-oss-120b via Groq) and a sourced answer citing 01_billing_and_plans.txt (82%).</a:t>
            </a:r>
          </a:p>
          <a:p>
            <a:r>
              <a:rPr lang="en-US" dirty="0"/>
              <a:t>- 4) Session stats after three questions, with the feedback (thumbs) and Regenerate controls.</a:t>
            </a:r>
          </a:p>
          <a:p>
            <a:r>
              <a:rPr lang="en-US" dirty="0"/>
              <a:t>- Talking point: the note in the app’s sidebar recommends factual_strict (temperature 0.0, top_p 0.9) for staying within the retrieved context and brand voice. These captures were taken with the creative preset selected (0.80 / 0.95), so say so explicitly or re-capture with factual_strict.</a:t>
            </a:r>
          </a:p>
          <a:p>
            <a:r>
              <a:rPr lang="en-US" dirty="0"/>
              <a:t>- PRESENTER CHECK: the Mock Login screen and an expanded Retrieved Chunks panel are not among these four captures; add them if you want those views shown. Never show API keys in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SECURITY: DEMO VS PRODUCTION
- Implemented: a Mock Login screen gates the RAG engine; access is tracked in the Streamlit session; credentials come from environment configuration instead of being hard-coded; and the system prompt forbids asking customers for passwords, full card numbers or 2FA codes.
- Be clear that this is demonstration-grade. A session flag with a shared credential does not provide identity, authorization, auditing or protection against stolen sessions.
- Production path (proposed, not built): a real identity provider over OpenID Connect (Streamlit supports this natively via st.login), a secrets manager for API keys, role-based access control, audit logs and rate limiting, TLS, and adversarial testing for prompt injection and sensitive-information disclosure (OWASP Top 10 for LLM Applications).
- Note that instructions in a system prompt are behavioral guidance, not a security control; OWASP advises against relying on them as one.
- Never show real API keys or credentials in screenshots or slides.
- PRESENTER CHECK: confirm in the code that credentials are read from environment variables and that login state lives in st.session_state.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DESIGN AND FINDINGS
- Test set: 7 questions, of which 4 are answerable from the knowledge base and 3 are deliberately out-of-scope. A good assistant answers the first group from the sources and refuses the second group instead of guessing.
- Finding 1 (author-reported): the factual_strict preset passed the grounding/refusal check most consistently.
- Finding 2 (author-reported): latency was comparable across presets, because it is dominated by retrieval and the API round trip rather than by temperature.
- Honesty: this is a small set with qualitative scoring, so treat it as directional. No accuracy percentages or latency figures are shown because none were provided.
- How to strengthen it: add retrieval metrics (did the right chunk appear in the top-k?), compare answers with reference answers, score faithfulness to the retrieved text, repeat runs, and enlarge the question set. Distinguish retrieval quality from generation quality when diagnosing failures.
- PRESENTER CHECK: if you have per-question pass/fail records or latency numbers, add them here as a chart or table and remove the 'PRELIMINARY' badge if the evidence supports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MESSAGE
- RAG constrains the support assistant to approved, sourced content; showing retrieved chunks makes every answer checkable; and a low temperature is a sensible default for factual support, as the preliminary experiment suggests.
- Be honest about limitations: simulated knowledge base, a 7-question qualitatively scored evaluation, and demo-grade authentication.
- The roadmap is proposed, not built: expand KB coverage and evaluation, monitor retrieval quality and faithfulness, add a feedback loop that turns refused queries into KB gaps, integrate human handoff, and replace Mock Login with real authentication.
-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Technical claims about the tools (embedding dimensions, default embedder, splitter behavior, model architecture and context window, authentication options, LLM security risks) come from the official documentation listed here.
- External documentation does not prove anything about this project's measured results; those come only from the project's own evaluation.
- The arXiv papers are cited for the concepts (RAG, chain-of-thought prompting, nucleus sampling, sentence embeddings).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3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SECTION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373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Netflix Customer Support RAG Assistant  |  AI Consultant Engagement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3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SECTION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373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Netflix Customer Support RAG Assistant  |  AI Consultant Engagement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22376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200" b="1" dirty="0">
                <a:solidFill>
                  <a:schemeClr val="bg1"/>
                </a:solidFill>
              </a:rPr>
              <a:t>Title</a:t>
            </a:r>
            <a:endParaRPr lang="en-US" sz="4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Subtitle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9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7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RAG REAL-LIFE USE CASE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223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chemeClr val="bg1"/>
                </a:solidFill>
              </a:rPr>
              <a:t>Netflix Customer Support Assistant: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chemeClr val="accent1"/>
                </a:solidFill>
              </a:rPr>
              <a:t>A RAG-Based AI Solution</a:t>
            </a:r>
            <a:endParaRPr lang="en-US" sz="42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AI </a:t>
            </a:r>
            <a:r>
              <a:rPr lang="en-US" dirty="0"/>
              <a:t>Engineer</a:t>
            </a:r>
            <a:r>
              <a:rPr lang="en-US" sz="2000" dirty="0">
                <a:solidFill>
                  <a:schemeClr val="bg2"/>
                </a:solidFill>
              </a:rPr>
              <a:t> — </a:t>
            </a:r>
            <a:r>
              <a:rPr lang="en-US" dirty="0"/>
              <a:t>Tanishq Rawat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49240"/>
            <a:ext cx="214884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Groq · gpt-oss-120b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5349240"/>
            <a:ext cx="182880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all-MiniLM-L6-v2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38344" y="5349240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Chroma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54496" y="5349240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BUSINESS CASE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Business Use Case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7647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" y="1895551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64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42316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Repetitive ticket volume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044952"/>
            <a:ext cx="2916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High ticket volume for billing, account and streaming questions that already have documented answers.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41648" y="281178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379976" y="1508760"/>
            <a:ext cx="3429000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36008" y="17647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767" y="1895551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94376" y="1764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36008" y="242316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Ava, a RAG support assistant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36008" y="3044952"/>
            <a:ext cx="2916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Answers grounded strictly in Netflix Help Center documents, delivered in Netflix's support Chat.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872984" y="281178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219195" y="1508760"/>
            <a:ext cx="3429000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467344" y="17647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8103" y="1895551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125712" y="1764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</a:rPr>
              <a:t>EXPECTED VALUE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467344" y="242316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Faster, consistent, auditable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467344" y="3044952"/>
            <a:ext cx="2916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Quicker resolution, consistent brand voice, visible sources and lower hallucination risk than a bare LLM.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 txBox="1"/>
          <p:nvPr/>
        </p:nvSpPr>
        <p:spPr>
          <a:xfrm>
            <a:off x="822960" y="4462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2"/>
                </a:solidFill>
              </a:rPr>
              <a:t>Why a grounded assistant beats an unrestricted chatbot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Unrestricted chatbot</a:t>
            </a:r>
            <a:endParaRPr lang="en-US" sz="14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221224"/>
            <a:ext cx="146304" cy="14630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97280" y="51937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Answers from general training data</a:t>
            </a:r>
            <a:endParaRPr lang="en-US" sz="14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477256"/>
            <a:ext cx="146304" cy="14630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97280" y="54498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May invent plans, prices or policies</a:t>
            </a:r>
            <a:endParaRPr lang="en-US" sz="14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733288"/>
            <a:ext cx="146304" cy="14630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97280" y="57058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No way for the user to verify a claim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35508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Ava — grounded RAG</a:t>
            </a:r>
            <a:endParaRPr lang="en-US" sz="14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5221224"/>
            <a:ext cx="146304" cy="14630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629400" y="51937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Answers from approved Help Center content</a:t>
            </a:r>
            <a:endParaRPr lang="en-US" sz="14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5477256"/>
            <a:ext cx="146304" cy="146304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629400" y="54498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Refuses when the context is insufficient</a:t>
            </a:r>
            <a:endParaRPr lang="en-US" sz="14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5733288"/>
            <a:ext cx="146304" cy="14630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629400" y="57058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Shows retrieved chunks to verify answers</a:t>
            </a:r>
            <a:endParaRPr lang="en-US" sz="1400" dirty="0"/>
          </a:p>
        </p:txBody>
      </p:sp>
      <p:sp>
        <p:nvSpPr>
          <p:cNvPr id="40" name="Shape 29"/>
          <p:cNvSpPr/>
          <p:nvPr/>
        </p:nvSpPr>
        <p:spPr>
          <a:xfrm>
            <a:off x="6126480" y="4572000"/>
            <a:ext cx="0" cy="13716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0"/>
          <p:cNvSpPr txBox="1"/>
          <p:nvPr/>
        </p:nvSpPr>
        <p:spPr>
          <a:xfrm>
            <a:off x="548640" y="6217920"/>
            <a:ext cx="11091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Value statements are expected benefits; no production ticket-volume, response-time or cost metrics were measured.</a:t>
            </a:r>
            <a:endParaRPr lang="en-US" sz="10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OFFLINE  ·  INDEXING PIPELINE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37160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Knowledge docs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4 unstructured .txt files in data/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68957" y="1737360"/>
            <a:ext cx="137160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Load &amp; chunk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Recursive splitter · 500 chars / 80 overlap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89274" y="1737360"/>
            <a:ext cx="137160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Embed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all-MiniLM-L6-v2 · 384-d vectors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09590" y="1737360"/>
            <a:ext cx="1371600" cy="1097280"/>
          </a:xfrm>
          <a:prstGeom prst="can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Chroma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local vector database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47672" y="2286000"/>
            <a:ext cx="193853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567989" y="2286000"/>
            <a:ext cx="193853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188306" y="2286000"/>
            <a:ext cx="193853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029907" y="1737360"/>
            <a:ext cx="4610405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258507" y="1737360"/>
            <a:ext cx="41532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Built ahead of time. At query time only the user's question is embedded and compared with the stored vectors.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29968" y="3200400"/>
            <a:ext cx="9729216" cy="2194560"/>
          </a:xfrm>
          <a:prstGeom prst="roundRect">
            <a:avLst>
              <a:gd name="adj" fmla="val 5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24028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ONLINE  ·  QUERY &amp; RESPONSE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4" y="3319272"/>
            <a:ext cx="182880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528048" y="3291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bg1"/>
                </a:solidFill>
              </a:rPr>
              <a:t>Access requires Mock Login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65760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Mock Login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session-based gate in front of the engine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3749040"/>
            <a:ext cx="219456" cy="24688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168957" y="365760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User query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typed in the Streamlit chat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789274" y="365760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Query embedding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same MiniLM model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409590" y="365760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Top-k retrieval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similarity search in Chroma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029907" y="365760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Prompt assembly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Ava persona + answer format + retrieved context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8650224" y="365760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LLM generation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Groq · openai/gpt-oss-120b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0270541" y="365760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3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Streamlit UI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Retrieval Reasoning + Answer + Retrieved Chunks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1947672" y="4389120"/>
            <a:ext cx="193853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3567989" y="4389120"/>
            <a:ext cx="193853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5188306" y="4389120"/>
            <a:ext cx="193853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6808622" y="4389120"/>
            <a:ext cx="193853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8428939" y="4389120"/>
            <a:ext cx="193853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10049256" y="4389120"/>
            <a:ext cx="193853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6095390" y="2871216"/>
            <a:ext cx="0" cy="74980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 txBox="1"/>
          <p:nvPr/>
        </p:nvSpPr>
        <p:spPr>
          <a:xfrm>
            <a:off x="6205118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vector search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Generation: </a:t>
            </a:r>
            <a:r>
              <a:rPr lang="en-US" sz="1400" dirty="0">
                <a:solidFill>
                  <a:schemeClr val="bg2"/>
                </a:solidFill>
              </a:rPr>
              <a:t>Groq openai/gpt-oss-120b (primary configuration). Alternative provider option: OpenAI gpt-4o-mini. Retrieved chunks are always displayed so answers can be verified.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MODEL SELECTION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Model Choice: LLM vs. SLM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480560" cy="214884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810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2"/>
                </a:solidFill>
              </a:rPr>
              <a:t>EMBEDDINGS  ·  SMALL ENCODER (SLM-CLASS)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all-MiniLM-L6-v2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231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≈22.7M parameters, 384-d vectors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Local, free and fast; keeps data local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Embeds text only; never writes answers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4480560" cy="237744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1422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4023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2"/>
                </a:solidFill>
              </a:rPr>
              <a:t>GENERATION  ·  LARGE MODEL (LLM)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openai/gpt-oss-120b via Groq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75488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120B-parameter MoE, ≈5.1B active per token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131K-token context window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Strong instruction-following for persona, retrieval rationale and refusals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Alternative option: OpenAI gpt-4o-mini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508760"/>
          <a:ext cx="6336792" cy="3712464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Large model (selected)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Small model (alternative)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Instruction following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Stronger on multi-rule prompts (persona + format + refusal)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More likely to drift; needs testing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Response quality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Fluent; handles ambiguous questions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Fine for short, narrow answers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Context handling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Long window holds many chunks (131K here)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Often shorter windows, fewer chunks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Latency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Heavier compute; fast hosted inference keeps chat responsive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Lowest latency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Per-token API cost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Cheaper; can be self-hosted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Deployment &amp; privacy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Hosted API: prompt and retrieved text leave the app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Can run fully local or on-prem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Fit for grounded support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Chosen: reliable refusals and retrieval rationale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Plausible; validate on the eval set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5303520" y="5596128"/>
            <a:ext cx="6336792" cy="621792"/>
          </a:xfrm>
          <a:prstGeom prst="roundRect">
            <a:avLst>
              <a:gd name="adj" fmla="val 14706"/>
            </a:avLst>
          </a:prstGeom>
          <a:solidFill>
            <a:schemeClr val="tx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 txBox="1"/>
          <p:nvPr/>
        </p:nvSpPr>
        <p:spPr>
          <a:xfrm>
            <a:off x="5486400" y="5596128"/>
            <a:ext cx="5989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Rule of thumb: </a:t>
            </a:r>
            <a:r>
              <a:rPr lang="en-US" sz="1400" dirty="0">
                <a:solidFill>
                  <a:schemeClr val="bg1"/>
                </a:solidFill>
              </a:rPr>
              <a:t>use the smallest model that reliably clears the task's reasoning bar.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303520" y="5303520"/>
            <a:ext cx="6336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General trade-offs, not project measurements.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DATA PREPARATION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Data Preparation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10896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01368"/>
            <a:ext cx="14630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2"/>
                </a:solidFill>
              </a:rPr>
              <a:t>CUSTOMER-FACING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Billing &amp; Plans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Plans, charges, payments and billing questions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0" y="1508760"/>
            <a:ext cx="310896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041648" y="17099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2880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1801368"/>
            <a:ext cx="14630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2"/>
                </a:solidFill>
              </a:rPr>
              <a:t>CUSTOMER-FACING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06908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Account &amp; Security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069080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Sign-in, profile and account protection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566160"/>
            <a:ext cx="310896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49808" y="3767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88620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3858768"/>
            <a:ext cx="14630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2"/>
                </a:solidFill>
              </a:rPr>
              <a:t>CUSTOMER-FACING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343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Streaming &amp; Playback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4864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Playback, devices and viewing issues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3840480" y="3566160"/>
            <a:ext cx="310896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4041648" y="37673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88620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617720" y="3858768"/>
            <a:ext cx="132588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4"/>
                </a:solidFill>
              </a:rPr>
              <a:t>INTERNAL POLICY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4069080" y="4343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Internal Brand-Voice / Escalation Policy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4069080" y="4864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Tone of voice and when to hand off to a human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7315200" y="1508760"/>
            <a:ext cx="4325112" cy="3931920"/>
          </a:xfrm>
          <a:prstGeom prst="roundRect">
            <a:avLst>
              <a:gd name="adj" fmla="val 2326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 txBox="1"/>
          <p:nvPr/>
        </p:nvSpPr>
        <p:spPr>
          <a:xfrm>
            <a:off x="758952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KNOWLEDGE BASE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7589520" y="19659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4</a:t>
            </a:r>
            <a:endParaRPr lang="en-US" sz="8000" dirty="0"/>
          </a:p>
        </p:txBody>
      </p:sp>
      <p:sp>
        <p:nvSpPr>
          <p:cNvPr id="31" name="Text 25"/>
          <p:cNvSpPr txBox="1"/>
          <p:nvPr/>
        </p:nvSpPr>
        <p:spPr>
          <a:xfrm>
            <a:off x="8732520" y="2103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unstructured text documents in data/</a:t>
            </a:r>
            <a:endParaRPr lang="en-US" sz="16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3291840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028432" y="3246120"/>
            <a:ext cx="3319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Multi-page, realistic Help Center-style text</a:t>
            </a:r>
            <a:endParaRPr lang="en-US" sz="14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08" y="4005072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028432" y="3959352"/>
            <a:ext cx="3319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Plain .txt files, one per topic area</a:t>
            </a:r>
            <a:endParaRPr lang="en-US" sz="14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7808" y="4718304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028432" y="4672584"/>
            <a:ext cx="3319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Simulated content, not real Netflix internal documents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548640" y="566928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Raw .txt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2935224" y="5897880"/>
            <a:ext cx="47548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 txBox="1"/>
          <p:nvPr/>
        </p:nvSpPr>
        <p:spPr>
          <a:xfrm>
            <a:off x="3465576" y="566928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Chunks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5852160" y="5897880"/>
            <a:ext cx="47548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3"/>
          <p:cNvSpPr txBox="1"/>
          <p:nvPr/>
        </p:nvSpPr>
        <p:spPr>
          <a:xfrm>
            <a:off x="6382512" y="566928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Vectors</a:t>
            </a:r>
            <a:endParaRPr lang="en-US" sz="1400" dirty="0"/>
          </a:p>
        </p:txBody>
      </p:sp>
      <p:sp>
        <p:nvSpPr>
          <p:cNvPr id="43" name="Shape 34"/>
          <p:cNvSpPr/>
          <p:nvPr/>
        </p:nvSpPr>
        <p:spPr>
          <a:xfrm>
            <a:off x="8769096" y="5897880"/>
            <a:ext cx="47548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5"/>
          <p:cNvSpPr txBox="1"/>
          <p:nvPr/>
        </p:nvSpPr>
        <p:spPr>
          <a:xfrm>
            <a:off x="9299448" y="566928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Chroma index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CHUNKING &amp; EMBEDDING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Chunking &amp; Embedding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1  LOAD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481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2  CHUNK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60920" y="1481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3  EMBED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12680" y="1481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4  INDEX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194560" cy="246888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77240" y="2057400"/>
            <a:ext cx="1645920" cy="91440"/>
          </a:xfrm>
          <a:prstGeom prst="roundRect">
            <a:avLst>
              <a:gd name="adj" fmla="val 50000"/>
            </a:avLst>
          </a:prstGeom>
          <a:solidFill>
            <a:schemeClr val="bg2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" y="2258568"/>
            <a:ext cx="1371600" cy="91440"/>
          </a:xfrm>
          <a:prstGeom prst="roundRect">
            <a:avLst>
              <a:gd name="adj" fmla="val 50000"/>
            </a:avLst>
          </a:prstGeom>
          <a:solidFill>
            <a:schemeClr val="bg2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77240" y="2459736"/>
            <a:ext cx="1645920" cy="91440"/>
          </a:xfrm>
          <a:prstGeom prst="roundRect">
            <a:avLst>
              <a:gd name="adj" fmla="val 50000"/>
            </a:avLst>
          </a:prstGeom>
          <a:solidFill>
            <a:schemeClr val="bg2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2660904"/>
            <a:ext cx="1097280" cy="91440"/>
          </a:xfrm>
          <a:prstGeom prst="roundRect">
            <a:avLst>
              <a:gd name="adj" fmla="val 50000"/>
            </a:avLst>
          </a:prstGeom>
          <a:solidFill>
            <a:schemeClr val="bg2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" y="2862072"/>
            <a:ext cx="1554480" cy="91440"/>
          </a:xfrm>
          <a:prstGeom prst="roundRect">
            <a:avLst>
              <a:gd name="adj" fmla="val 50000"/>
            </a:avLst>
          </a:prstGeom>
          <a:solidFill>
            <a:schemeClr val="bg2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77240" y="3063240"/>
            <a:ext cx="1280160" cy="91440"/>
          </a:xfrm>
          <a:prstGeom prst="roundRect">
            <a:avLst>
              <a:gd name="adj" fmla="val 50000"/>
            </a:avLst>
          </a:prstGeom>
          <a:solidFill>
            <a:schemeClr val="bg2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3264408"/>
            <a:ext cx="1645920" cy="91440"/>
          </a:xfrm>
          <a:prstGeom prst="roundRect">
            <a:avLst>
              <a:gd name="adj" fmla="val 50000"/>
            </a:avLst>
          </a:prstGeom>
          <a:solidFill>
            <a:schemeClr val="bg2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7240" y="3465576"/>
            <a:ext cx="914400" cy="91440"/>
          </a:xfrm>
          <a:prstGeom prst="roundRect">
            <a:avLst>
              <a:gd name="adj" fmla="val 50000"/>
            </a:avLst>
          </a:prstGeom>
          <a:solidFill>
            <a:schemeClr val="bg2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3666744"/>
            <a:ext cx="1463040" cy="91440"/>
          </a:xfrm>
          <a:prstGeom prst="roundRect">
            <a:avLst>
              <a:gd name="adj" fmla="val 50000"/>
            </a:avLst>
          </a:prstGeom>
          <a:solidFill>
            <a:schemeClr val="bg2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77240" y="3867912"/>
            <a:ext cx="1188720" cy="91440"/>
          </a:xfrm>
          <a:prstGeom prst="roundRect">
            <a:avLst>
              <a:gd name="adj" fmla="val 50000"/>
            </a:avLst>
          </a:prstGeom>
          <a:solidFill>
            <a:schemeClr val="bg2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77240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KB document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98064" y="3063240"/>
            <a:ext cx="38404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46120" y="187452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98264" y="1874520"/>
            <a:ext cx="219456" cy="502920"/>
          </a:xfrm>
          <a:prstGeom prst="rect">
            <a:avLst/>
          </a:prstGeom>
          <a:solidFill>
            <a:schemeClr val="accent1">
              <a:alpha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246120" y="18745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Chunk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98264" y="2542032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398264" y="2542032"/>
            <a:ext cx="219456" cy="502920"/>
          </a:xfrm>
          <a:prstGeom prst="rect">
            <a:avLst/>
          </a:prstGeom>
          <a:solidFill>
            <a:schemeClr val="accent1">
              <a:alpha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550408" y="2542032"/>
            <a:ext cx="219456" cy="502920"/>
          </a:xfrm>
          <a:prstGeom prst="rect">
            <a:avLst/>
          </a:prstGeom>
          <a:solidFill>
            <a:schemeClr val="accent1">
              <a:alpha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617720" y="2542032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Chunk 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50408" y="3209544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550408" y="3209544"/>
            <a:ext cx="219456" cy="502920"/>
          </a:xfrm>
          <a:prstGeom prst="rect">
            <a:avLst/>
          </a:prstGeom>
          <a:solidFill>
            <a:schemeClr val="accent1">
              <a:alpha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5769864" y="3209544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Chunk 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1993392"/>
            <a:ext cx="1417320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80-char overlap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flipH="1">
            <a:off x="4663440" y="2130552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3246120" y="4133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500 chars per chunk (illustrative, to scale)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59168" y="306324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360920" y="1947672"/>
            <a:ext cx="146304" cy="356616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530084" y="1947672"/>
            <a:ext cx="146304" cy="356616"/>
          </a:xfrm>
          <a:prstGeom prst="rect">
            <a:avLst/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699248" y="1947672"/>
            <a:ext cx="146304" cy="356616"/>
          </a:xfrm>
          <a:prstGeom prst="rect">
            <a:avLst/>
          </a:prstGeom>
          <a:solidFill>
            <a:schemeClr val="accent1">
              <a:alpha val="8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868412" y="1947672"/>
            <a:ext cx="146304" cy="356616"/>
          </a:xfrm>
          <a:prstGeom prst="rect">
            <a:avLst/>
          </a:prstGeom>
          <a:solidFill>
            <a:schemeClr val="accent1">
              <a:alpha val="6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037576" y="1947672"/>
            <a:ext cx="146304" cy="356616"/>
          </a:xfrm>
          <a:prstGeom prst="rect">
            <a:avLst/>
          </a:prstGeom>
          <a:solidFill>
            <a:schemeClr val="accent1">
              <a:alpha val="3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206740" y="1947672"/>
            <a:ext cx="146304" cy="356616"/>
          </a:xfrm>
          <a:prstGeom prst="rect">
            <a:avLst/>
          </a:prstGeom>
          <a:solidFill>
            <a:schemeClr val="accent1">
              <a:alpha val="9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375904" y="1947672"/>
            <a:ext cx="146304" cy="356616"/>
          </a:xfrm>
          <a:prstGeom prst="rect">
            <a:avLst/>
          </a:prstGeom>
          <a:solidFill>
            <a:schemeClr val="accent1">
              <a:alpha val="5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545068" y="1947672"/>
            <a:ext cx="146304" cy="356616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714232" y="1947672"/>
            <a:ext cx="146304" cy="356616"/>
          </a:xfrm>
          <a:prstGeom prst="rect">
            <a:avLst/>
          </a:prstGeom>
          <a:solidFill>
            <a:schemeClr val="accent1">
              <a:alpha val="5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883396" y="1947672"/>
            <a:ext cx="146304" cy="356616"/>
          </a:xfrm>
          <a:prstGeom prst="rect">
            <a:avLst/>
          </a:prstGeom>
          <a:solidFill>
            <a:schemeClr val="accent1">
              <a:alpha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9052560" y="1947672"/>
            <a:ext cx="146304" cy="356616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9221724" y="1947672"/>
            <a:ext cx="146304" cy="356616"/>
          </a:xfrm>
          <a:prstGeom prst="rect">
            <a:avLst/>
          </a:prstGeom>
          <a:solidFill>
            <a:schemeClr val="accent1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360920" y="2615184"/>
            <a:ext cx="146304" cy="356616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530084" y="2615184"/>
            <a:ext cx="146304" cy="356616"/>
          </a:xfrm>
          <a:prstGeom prst="rect">
            <a:avLst/>
          </a:prstGeom>
          <a:solidFill>
            <a:schemeClr val="accent1">
              <a:alpha val="5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699248" y="2615184"/>
            <a:ext cx="146304" cy="356616"/>
          </a:xfrm>
          <a:prstGeom prst="rect">
            <a:avLst/>
          </a:prstGeom>
          <a:solidFill>
            <a:schemeClr val="accent1">
              <a:alpha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7868412" y="2615184"/>
            <a:ext cx="146304" cy="356616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8037576" y="2615184"/>
            <a:ext cx="146304" cy="356616"/>
          </a:xfrm>
          <a:prstGeom prst="rect">
            <a:avLst/>
          </a:prstGeom>
          <a:solidFill>
            <a:schemeClr val="accent1">
              <a:alpha val="3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8206740" y="2615184"/>
            <a:ext cx="146304" cy="356616"/>
          </a:xfrm>
          <a:prstGeom prst="rect">
            <a:avLst/>
          </a:prstGeom>
          <a:solidFill>
            <a:schemeClr val="accent1">
              <a:alpha val="7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8375904" y="2615184"/>
            <a:ext cx="146304" cy="356616"/>
          </a:xfrm>
          <a:prstGeom prst="rect">
            <a:avLst/>
          </a:prstGeom>
          <a:solidFill>
            <a:schemeClr val="accent1">
              <a:alpha val="2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8545068" y="2615184"/>
            <a:ext cx="146304" cy="356616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8714232" y="2615184"/>
            <a:ext cx="146304" cy="356616"/>
          </a:xfrm>
          <a:prstGeom prst="rect">
            <a:avLst/>
          </a:prstGeom>
          <a:solidFill>
            <a:schemeClr val="accent1">
              <a:alpha val="6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8883396" y="2615184"/>
            <a:ext cx="146304" cy="356616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9052560" y="2615184"/>
            <a:ext cx="146304" cy="356616"/>
          </a:xfrm>
          <a:prstGeom prst="rect">
            <a:avLst/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221724" y="2615184"/>
            <a:ext cx="146304" cy="356616"/>
          </a:xfrm>
          <a:prstGeom prst="rect">
            <a:avLst/>
          </a:prstGeom>
          <a:solidFill>
            <a:schemeClr val="accent1">
              <a:alpha val="8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360920" y="3282696"/>
            <a:ext cx="146304" cy="356616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7530084" y="3282696"/>
            <a:ext cx="146304" cy="356616"/>
          </a:xfrm>
          <a:prstGeom prst="rect">
            <a:avLst/>
          </a:prstGeom>
          <a:solidFill>
            <a:schemeClr val="accent1">
              <a:alpha val="6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699248" y="3282696"/>
            <a:ext cx="146304" cy="356616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7868412" y="3282696"/>
            <a:ext cx="146304" cy="356616"/>
          </a:xfrm>
          <a:prstGeom prst="rect">
            <a:avLst/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8037576" y="3282696"/>
            <a:ext cx="146304" cy="356616"/>
          </a:xfrm>
          <a:prstGeom prst="rect">
            <a:avLst/>
          </a:prstGeom>
          <a:solidFill>
            <a:schemeClr val="accent1">
              <a:alpha val="8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206740" y="3282696"/>
            <a:ext cx="146304" cy="356616"/>
          </a:xfrm>
          <a:prstGeom prst="rect">
            <a:avLst/>
          </a:prstGeom>
          <a:solidFill>
            <a:schemeClr val="accent1">
              <a:alpha val="6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8375904" y="3282696"/>
            <a:ext cx="146304" cy="356616"/>
          </a:xfrm>
          <a:prstGeom prst="rect">
            <a:avLst/>
          </a:prstGeom>
          <a:solidFill>
            <a:schemeClr val="accent1">
              <a:alpha val="3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8545068" y="3282696"/>
            <a:ext cx="146304" cy="356616"/>
          </a:xfrm>
          <a:prstGeom prst="rect">
            <a:avLst/>
          </a:prstGeom>
          <a:solidFill>
            <a:schemeClr val="accent1">
              <a:alpha val="9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8714232" y="3282696"/>
            <a:ext cx="146304" cy="356616"/>
          </a:xfrm>
          <a:prstGeom prst="rect">
            <a:avLst/>
          </a:prstGeom>
          <a:solidFill>
            <a:schemeClr val="accent1">
              <a:alpha val="5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8883396" y="3282696"/>
            <a:ext cx="146304" cy="356616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9052560" y="3282696"/>
            <a:ext cx="146304" cy="356616"/>
          </a:xfrm>
          <a:prstGeom prst="rect">
            <a:avLst/>
          </a:prstGeom>
          <a:solidFill>
            <a:schemeClr val="accent1">
              <a:alpha val="5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9221724" y="3282696"/>
            <a:ext cx="146304" cy="356616"/>
          </a:xfrm>
          <a:prstGeom prst="rect">
            <a:avLst/>
          </a:prstGeom>
          <a:solidFill>
            <a:schemeClr val="accent1">
              <a:alpha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 txBox="1"/>
          <p:nvPr/>
        </p:nvSpPr>
        <p:spPr>
          <a:xfrm>
            <a:off x="7360920" y="38221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384-d vector per chunk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736092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</a:rPr>
              <a:t>all-MiniLM-L6-v2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9464040" y="3063240"/>
            <a:ext cx="5029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 txBox="1"/>
          <p:nvPr/>
        </p:nvSpPr>
        <p:spPr>
          <a:xfrm>
            <a:off x="10012680" y="2194560"/>
            <a:ext cx="1627632" cy="1737360"/>
          </a:xfrm>
          <a:prstGeom prst="can">
            <a:avLst>
              <a:gd name="adj" fmla="val 5618"/>
            </a:avLst>
          </a:prstGeom>
          <a:solidFill>
            <a:schemeClr val="accent2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Chroma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local vector DB: vectors + chunk text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548640" y="4572000"/>
            <a:ext cx="3566160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 txBox="1"/>
          <p:nvPr/>
        </p:nvSpPr>
        <p:spPr>
          <a:xfrm>
            <a:off x="777240" y="47000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500 / 80</a:t>
            </a:r>
            <a:endParaRPr lang="en-US" sz="2800" dirty="0"/>
          </a:p>
        </p:txBody>
      </p:sp>
      <p:sp>
        <p:nvSpPr>
          <p:cNvPr id="77" name="Text 75"/>
          <p:cNvSpPr txBox="1"/>
          <p:nvPr/>
        </p:nvSpPr>
        <p:spPr>
          <a:xfrm>
            <a:off x="777240" y="5193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Chunk size / overlap (chars)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77240" y="54681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Small enough for precise retrieval, large enough to keep an answer intact.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4311396" y="4572000"/>
            <a:ext cx="3566160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 txBox="1"/>
          <p:nvPr/>
        </p:nvSpPr>
        <p:spPr>
          <a:xfrm>
            <a:off x="4539996" y="47000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Overlap</a:t>
            </a:r>
            <a:endParaRPr lang="en-US" sz="2800" dirty="0"/>
          </a:p>
        </p:txBody>
      </p:sp>
      <p:sp>
        <p:nvSpPr>
          <p:cNvPr id="81" name="Text 79"/>
          <p:cNvSpPr txBox="1"/>
          <p:nvPr/>
        </p:nvSpPr>
        <p:spPr>
          <a:xfrm>
            <a:off x="4539996" y="5193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Why neighbors share text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4539996" y="54681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sentence cut at a boundary still appears whole in at least one chunk.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8074152" y="4572000"/>
            <a:ext cx="3566160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 txBox="1"/>
          <p:nvPr/>
        </p:nvSpPr>
        <p:spPr>
          <a:xfrm>
            <a:off x="8302752" y="47000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≠ Context</a:t>
            </a:r>
            <a:endParaRPr lang="en-US" sz="2800" dirty="0"/>
          </a:p>
        </p:txBody>
      </p:sp>
      <p:sp>
        <p:nvSpPr>
          <p:cNvPr id="85" name="Text 83"/>
          <p:cNvSpPr txBox="1"/>
          <p:nvPr/>
        </p:nvSpPr>
        <p:spPr>
          <a:xfrm>
            <a:off x="8302752" y="5193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Chunk size is a retrieval setting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8302752" y="54681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MiniLM reads up to 256 word pieces; the LLM's 131K window is a separate limit.</a:t>
            </a:r>
            <a:endParaRPr lang="en-US" sz="1400" dirty="0"/>
          </a:p>
        </p:txBody>
      </p:sp>
      <p:sp>
        <p:nvSpPr>
          <p:cNvPr id="8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PROMPT ENGINEERING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Prompt Engineering &amp; Brand Voice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89320" cy="4709160"/>
          </a:xfrm>
          <a:prstGeom prst="roundRect">
            <a:avLst>
              <a:gd name="adj" fmla="val 1942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6733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2"/>
                </a:solidFill>
              </a:rPr>
              <a:t>PROMPT STRUCTURE  (simplified, paraphrased)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5440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 are Ava, Netflix's customer-support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assistant. Answer ONLY from the provided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context. Respect documented authorization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limits; never ask for passwords, full card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numbers or 2FA codes. If the context is not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enough, say so. Do not guess.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[chunk 1: source, score] ...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[chunk k: source, score]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FORMAT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Retrieval Reasoning: sources used and why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Answer: concise, on-brand, grounded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{customer question}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070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Illustrative structure, not the verbatim prompt.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508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ANSWER FORMAT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810512"/>
            <a:ext cx="1371600" cy="56692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Retrieval Reasoning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66176" y="2093976"/>
            <a:ext cx="260604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563356" y="1810512"/>
            <a:ext cx="1371600" cy="56692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Answer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71532" y="2093976"/>
            <a:ext cx="260604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0268712" y="1810512"/>
            <a:ext cx="1371600" cy="56692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Verify in chunks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487168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</a:rPr>
              <a:t>A concise, user-facing rationale tied to retrieved sources, not private chain-of-thought.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3063240"/>
            <a:ext cx="4782312" cy="969264"/>
          </a:xfrm>
          <a:prstGeom prst="roundRect">
            <a:avLst>
              <a:gd name="adj" fmla="val 943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040880" y="3319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3438144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680960" y="315468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Grounded only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3447288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Facts come only from retrieved context; no invented policies or promises.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4142232"/>
            <a:ext cx="4782312" cy="969264"/>
          </a:xfrm>
          <a:prstGeom prst="roundRect">
            <a:avLst>
              <a:gd name="adj" fmla="val 943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7040880" y="43982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4517136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680960" y="423367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Brand voice and limits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680960" y="452628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Netflix support tone, documented authorization limits, no credential requests.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858000" y="5221224"/>
            <a:ext cx="4782312" cy="969264"/>
          </a:xfrm>
          <a:prstGeom prst="roundRect">
            <a:avLst>
              <a:gd name="adj" fmla="val 943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7040880" y="54772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5596128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680960" y="5312664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Explicit refusal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7680960" y="5605272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Out-of-scope or unanswerable questions get a clear refusal, not a guess.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GENERATION PARAMETERS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Generation Parameter Benchmark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439912" y="329184"/>
            <a:ext cx="3200400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4"/>
                </a:solidFill>
              </a:rPr>
              <a:t>QUALITATIVE  ·  AUTHOR-REPORTED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TEMPERATURE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2103120"/>
            <a:ext cx="95554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57400" y="196596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005840" y="15179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factual_strict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T = 0.0  ·  Top-P 0.9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53712" y="1965960"/>
            <a:ext cx="274320" cy="2743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02152" y="15179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balanced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T = 0.3  ·  Top-P 0.9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14232" y="196596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662672" y="15179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creative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662672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T = 0.8  ·  Top-P 0.95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91672" cy="208483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Preset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Temp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Top-P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Grounding / refusal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Notes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factual_strict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0.9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Highest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Recommended: stays in context; refuses out-of-scope reliably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balanced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0.3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0.9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Medium-high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Minor embellishment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creative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0.8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0.95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Lowest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Most hallucination-prone; weaker refusals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48640" y="5257800"/>
            <a:ext cx="544068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31520" y="550468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623560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371600" y="525780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Preliminary conclusion: </a:t>
            </a:r>
            <a:r>
              <a:rPr lang="en-US" sz="1400" dirty="0">
                <a:solidFill>
                  <a:schemeClr val="bg1"/>
                </a:solidFill>
              </a:rPr>
              <a:t>T = 0.0 reduced hallucination most effectively for brand-voice accuracy on this test set.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199632" y="5257800"/>
            <a:ext cx="544068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6382512" y="550468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5623560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22592" y="525780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Caveats: </a:t>
            </a:r>
            <a:r>
              <a:rPr lang="en-US" sz="1400" dirty="0">
                <a:solidFill>
                  <a:schemeClr val="bg1"/>
                </a:solidFill>
              </a:rPr>
              <a:t>qualitative ranking, no numeric scores; temperature is not a guarantee of accuracy.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APPLICATION DEMO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Streamlit Application Demo</a:t>
            </a:r>
            <a:endParaRPr lang="en-US" sz="3600" dirty="0"/>
          </a:p>
        </p:txBody>
      </p:sp>
      <p:sp>
        <p:nvSpPr>
          <p:cNvPr id="53" name="Zoom hint"/>
          <p:cNvSpPr txBox="1"/>
          <p:nvPr/>
        </p:nvSpPr>
        <p:spPr>
          <a:xfrm>
            <a:off x="8439912" y="329184"/>
            <a:ext cx="3200400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00" dirty="0">
                <a:solidFill>
                  <a:schemeClr val="bg2"/>
                </a:solidFill>
              </a:rPr>
              <a:t>CLICK A SCREENSHOT TO ENLARGE</a:t>
            </a:r>
          </a:p>
        </p:txBody>
      </p:sp>
      <p:pic>
        <p:nvPicPr>
          <p:cNvPr id="41" name="Screenshot 1 thumbnail (click to enlarge)" descr="Screenshot 1: Streamlit chat with the collapsed retrieval-reasoning panel, session stats, Browse Knowledge Base and Download transcript."/>
          <p:cNvPicPr>
            <a:picLocks noChangeAspect="1"/>
          </p:cNvPicPr>
          <p:nvPr/>
        </p:nvPicPr>
        <p:blipFill>
          <a:blip r:embed="rId3"/>
          <a:srcRect t="3600" b="3600"/>
          <a:stretch>
            <a:fillRect/>
          </a:stretch>
        </p:blipFill>
        <p:spPr>
          <a:xfrm>
            <a:off x="1889760" y="1444752"/>
            <a:ext cx="3840480" cy="2004731"/>
          </a:xfrm>
          <a:prstGeom prst="roundRect">
            <a:avLst>
              <a:gd name="adj" fmla="val 2200"/>
            </a:avLst>
          </a:prstGeom>
          <a:ln w="12700">
            <a:solidFill>
              <a:schemeClr val="accent5"/>
            </a:solidFill>
          </a:ln>
        </p:spPr>
      </p:pic>
      <p:pic>
        <p:nvPicPr>
          <p:cNvPr id="42" name="Screenshot 2 thumbnail (click to enlarge)" descr="Screenshot 2: Logged in as admin, Log out and Clear chat buttons, generation settings (preset, temperature, Top-P) and a sourced answer."/>
          <p:cNvPicPr>
            <a:picLocks noChangeAspect="1"/>
          </p:cNvPicPr>
          <p:nvPr/>
        </p:nvPicPr>
        <p:blipFill>
          <a:blip r:embed="rId4"/>
          <a:srcRect t="3600" b="3600"/>
          <a:stretch>
            <a:fillRect/>
          </a:stretch>
        </p:blipFill>
        <p:spPr>
          <a:xfrm>
            <a:off x="6461760" y="1444752"/>
            <a:ext cx="3840480" cy="2004731"/>
          </a:xfrm>
          <a:prstGeom prst="roundRect">
            <a:avLst>
              <a:gd name="adj" fmla="val 2200"/>
            </a:avLst>
          </a:prstGeom>
          <a:ln w="12700">
            <a:solidFill>
              <a:schemeClr val="accent5"/>
            </a:solidFill>
          </a:ln>
        </p:spPr>
      </p:pic>
      <p:pic>
        <p:nvPicPr>
          <p:cNvPr id="43" name="Screenshot 3 thumbnail (click to enlarge)" descr="Screenshot 3: Sidebar with top-k, Remember conversation and model openai/gpt-oss-120b via Groq, and an answer citing 01_billing_and_plans.txt (82%)."/>
          <p:cNvPicPr>
            <a:picLocks noChangeAspect="1"/>
          </p:cNvPicPr>
          <p:nvPr/>
        </p:nvPicPr>
        <p:blipFill>
          <a:blip r:embed="rId5"/>
          <a:srcRect t="3600" b="3600"/>
          <a:stretch>
            <a:fillRect/>
          </a:stretch>
        </p:blipFill>
        <p:spPr>
          <a:xfrm>
            <a:off x="1889760" y="3952403"/>
            <a:ext cx="3840480" cy="2004731"/>
          </a:xfrm>
          <a:prstGeom prst="roundRect">
            <a:avLst>
              <a:gd name="adj" fmla="val 2200"/>
            </a:avLst>
          </a:prstGeom>
          <a:ln w="12700">
            <a:solidFill>
              <a:schemeClr val="accent5"/>
            </a:solidFill>
          </a:ln>
        </p:spPr>
      </p:pic>
      <p:pic>
        <p:nvPicPr>
          <p:cNvPr id="44" name="Screenshot 4 thumbnail (click to enlarge)" descr="Screenshot 4: Session stats after three questions with thumbs-up count, Regenerate control and a sourced answer."/>
          <p:cNvPicPr>
            <a:picLocks noChangeAspect="1"/>
          </p:cNvPicPr>
          <p:nvPr/>
        </p:nvPicPr>
        <p:blipFill>
          <a:blip r:embed="rId6"/>
          <a:srcRect t="3600" b="3600"/>
          <a:stretch>
            <a:fillRect/>
          </a:stretch>
        </p:blipFill>
        <p:spPr>
          <a:xfrm>
            <a:off x="6461760" y="3952403"/>
            <a:ext cx="3840480" cy="2004731"/>
          </a:xfrm>
          <a:prstGeom prst="roundRect">
            <a:avLst>
              <a:gd name="adj" fmla="val 2200"/>
            </a:avLst>
          </a:prstGeom>
          <a:ln w="12700">
            <a:solidFill>
              <a:schemeClr val="accent5"/>
            </a:solidFill>
          </a:ln>
        </p:spPr>
      </p:pic>
      <p:sp>
        <p:nvSpPr>
          <p:cNvPr id="45" name="Screenshot 1 number"/>
          <p:cNvSpPr txBox="1"/>
          <p:nvPr/>
        </p:nvSpPr>
        <p:spPr>
          <a:xfrm>
            <a:off x="1889760" y="3522635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9" name="Screenshot 1 caption"/>
          <p:cNvSpPr txBox="1"/>
          <p:nvPr/>
        </p:nvSpPr>
        <p:spPr>
          <a:xfrm>
            <a:off x="2237232" y="3513491"/>
            <a:ext cx="34930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</a:rPr>
              <a:t>Retrieval reasoning panel and session stats</a:t>
            </a:r>
          </a:p>
        </p:txBody>
      </p:sp>
      <p:sp>
        <p:nvSpPr>
          <p:cNvPr id="46" name="Screenshot 2 number"/>
          <p:cNvSpPr txBox="1"/>
          <p:nvPr/>
        </p:nvSpPr>
        <p:spPr>
          <a:xfrm>
            <a:off x="6461760" y="3522635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0" name="Screenshot 2 caption"/>
          <p:cNvSpPr txBox="1"/>
          <p:nvPr/>
        </p:nvSpPr>
        <p:spPr>
          <a:xfrm>
            <a:off x="6809232" y="3513491"/>
            <a:ext cx="34930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</a:rPr>
              <a:t>Logged-in session and generation settings</a:t>
            </a:r>
          </a:p>
        </p:txBody>
      </p:sp>
      <p:sp>
        <p:nvSpPr>
          <p:cNvPr id="47" name="Screenshot 3 number"/>
          <p:cNvSpPr txBox="1"/>
          <p:nvPr/>
        </p:nvSpPr>
        <p:spPr>
          <a:xfrm>
            <a:off x="1889760" y="6030285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Screenshot 3 caption"/>
          <p:cNvSpPr txBox="1"/>
          <p:nvPr/>
        </p:nvSpPr>
        <p:spPr>
          <a:xfrm>
            <a:off x="2237232" y="6021141"/>
            <a:ext cx="34930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</a:rPr>
              <a:t>Sources, relevance score and model info</a:t>
            </a:r>
          </a:p>
        </p:txBody>
      </p:sp>
      <p:sp>
        <p:nvSpPr>
          <p:cNvPr id="48" name="Screenshot 4 number"/>
          <p:cNvSpPr txBox="1"/>
          <p:nvPr/>
        </p:nvSpPr>
        <p:spPr>
          <a:xfrm>
            <a:off x="6461760" y="6030285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2" name="Screenshot 4 caption"/>
          <p:cNvSpPr txBox="1"/>
          <p:nvPr/>
        </p:nvSpPr>
        <p:spPr>
          <a:xfrm>
            <a:off x="6809232" y="6021141"/>
            <a:ext cx="34930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</a:rPr>
              <a:t>Session stats and feedback controls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54" name="Screenshot 1 full-screen view (appears on click)" descr="Screenshot 1: Streamlit chat with the collapsed retrieval-reasoning panel, session stats, Browse Knowledge Base and Download transcrip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49200" y="0"/>
            <a:ext cx="12192000" cy="6858000"/>
          </a:xfrm>
          <a:prstGeom prst="rect">
            <a:avLst/>
          </a:prstGeom>
        </p:spPr>
      </p:pic>
      <p:pic>
        <p:nvPicPr>
          <p:cNvPr id="55" name="Screenshot 2 full-screen view (appears on click)" descr="Screenshot 2: Logged in as admin, Log out and Clear chat buttons, generation settings (preset, temperature, Top-P) and a sourced answer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649200" y="0"/>
            <a:ext cx="12192000" cy="6858000"/>
          </a:xfrm>
          <a:prstGeom prst="rect">
            <a:avLst/>
          </a:prstGeom>
        </p:spPr>
      </p:pic>
      <p:pic>
        <p:nvPicPr>
          <p:cNvPr id="56" name="Screenshot 3 full-screen view (appears on click)" descr="Screenshot 3: Sidebar with top-k, Remember conversation and model openai/gpt-oss-120b via Groq, and an answer citing 01_billing_and_plans.txt (82%)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649200" y="0"/>
            <a:ext cx="12192000" cy="6858000"/>
          </a:xfrm>
          <a:prstGeom prst="rect">
            <a:avLst/>
          </a:prstGeom>
        </p:spPr>
      </p:pic>
      <p:pic>
        <p:nvPicPr>
          <p:cNvPr id="57" name="Screenshot 4 full-screen view (appears on click)" descr="Screenshot 4: Session stats after three questions with thumbs-up count, Regenerate control and a sourced answer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64920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/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450" decel="6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125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450" decel="6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5683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50" decel="6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1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50" decel="6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1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450" accel="6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3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50" accel="6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3568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accel="6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.3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50" accel="6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.315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decel="6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875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50" decel="6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5683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decel="6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1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decel="6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1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450" accel="6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68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accel="6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3568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50" accel="6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.3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50" accel="6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.315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50" decel="6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125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50" decel="6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72248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50" decel="6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1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decel="6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1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450" accel="6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3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accel="6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7224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50" accel="6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.3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50" accel="6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.315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50" decel="6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875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50" decel="6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72248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50" decel="6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1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decel="6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31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450" accel="6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687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50" accel="6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7224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accel="6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.31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50" accel="6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.315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SECURITY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Security &amp; Responsible Access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3317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64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9659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opens the Streamlit app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26080" y="2057400"/>
            <a:ext cx="496519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68319" y="1508760"/>
            <a:ext cx="233172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651199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958" y="19138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91279" y="1664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Mock Login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291279" y="19659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credentials read from environment config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845759" y="2057400"/>
            <a:ext cx="496519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387998" y="1508760"/>
            <a:ext cx="23317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570878" y="17830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638" y="191383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10958" y="1664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Session state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210958" y="19659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login status kept per browser session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765438" y="2057400"/>
            <a:ext cx="496519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307678" y="1508760"/>
            <a:ext cx="23317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490558" y="17830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1317" y="191383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130638" y="1664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RAG engine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130638" y="19659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retrieval + generation unlock after login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2834640"/>
            <a:ext cx="11091672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2962656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43000" y="2834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Mock Login is demonstration-grade. On its own it does not make this app production-secure.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3520440"/>
            <a:ext cx="544068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777240" y="370332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092" y="3803172"/>
            <a:ext cx="184343" cy="18434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98448" y="3703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IMPLEMENTED IN THE DEMO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822960" y="429768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Mock Login gate in front of the RAG engine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Session-based access with env-configured credentials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System prompt: never request passwords, full card numbers or 2FA codes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6199632" y="3520440"/>
            <a:ext cx="544068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8"/>
          <p:cNvSpPr/>
          <p:nvPr/>
        </p:nvSpPr>
        <p:spPr>
          <a:xfrm>
            <a:off x="6428232" y="370332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084" y="3803172"/>
            <a:ext cx="184343" cy="18434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949440" y="37033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PRODUCTION PATH  (PROPOSED)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473952" y="429768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Real identity provider (OIDC, SSO, MFA)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Managed secrets store; key rotation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Role-based access, audit logs, rate limits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Injection testing; prompt rules are not a hard security control</a:t>
            </a:r>
            <a:endParaRPr lang="en-US" sz="16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Evaluation Results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439912" y="329184"/>
            <a:ext cx="3200400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4"/>
                </a:solidFill>
              </a:rPr>
              <a:t>PRELIMINARY  ·  QUALITATIVE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66928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EVALUATION SET  ·  7 QUESTIONS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03504" cy="777240"/>
          </a:xfrm>
          <a:prstGeom prst="roundRect">
            <a:avLst>
              <a:gd name="adj" fmla="val 12121"/>
            </a:avLst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40030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517904" y="2148840"/>
            <a:ext cx="603504" cy="777240"/>
          </a:xfrm>
          <a:prstGeom prst="roundRect">
            <a:avLst>
              <a:gd name="adj" fmla="val 12121"/>
            </a:avLst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240030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12848" y="2148840"/>
            <a:ext cx="603504" cy="777240"/>
          </a:xfrm>
          <a:prstGeom prst="roundRect">
            <a:avLst>
              <a:gd name="adj" fmla="val 12121"/>
            </a:avLst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400300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907792" y="2148840"/>
            <a:ext cx="603504" cy="777240"/>
          </a:xfrm>
          <a:prstGeom prst="roundRect">
            <a:avLst>
              <a:gd name="adj" fmla="val 12121"/>
            </a:avLst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2400300"/>
            <a:ext cx="274320" cy="274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858768" y="2148840"/>
            <a:ext cx="603504" cy="777240"/>
          </a:xfrm>
          <a:prstGeom prst="roundRect">
            <a:avLst>
              <a:gd name="adj" fmla="val 12121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400300"/>
            <a:ext cx="274320" cy="27432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553712" y="2148840"/>
            <a:ext cx="603504" cy="777240"/>
          </a:xfrm>
          <a:prstGeom prst="roundRect">
            <a:avLst>
              <a:gd name="adj" fmla="val 12121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40030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248656" y="2148840"/>
            <a:ext cx="603504" cy="777240"/>
          </a:xfrm>
          <a:prstGeom prst="roundRect">
            <a:avLst>
              <a:gd name="adj" fmla="val 12121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40030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22960" y="3108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4 answerable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should be answered from the KB</a:t>
            </a:r>
            <a:endParaRPr lang="en-US" sz="1400" dirty="0"/>
          </a:p>
        </p:txBody>
      </p:sp>
      <p:sp>
        <p:nvSpPr>
          <p:cNvPr id="22" name="Text 13"/>
          <p:cNvSpPr txBox="1"/>
          <p:nvPr/>
        </p:nvSpPr>
        <p:spPr>
          <a:xfrm>
            <a:off x="3822192" y="3108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out-of-scope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should be refused, not guessed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6446520" y="1508760"/>
            <a:ext cx="5193792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5"/>
          <p:cNvSpPr txBox="1"/>
          <p:nvPr/>
        </p:nvSpPr>
        <p:spPr>
          <a:xfrm>
            <a:off x="6720840" y="1691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EVALUATION LENSES</a:t>
            </a:r>
            <a:endParaRPr lang="en-US" sz="11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2130552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104888" y="207568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Grounding / refusal check (applied)</a:t>
            </a:r>
            <a:endParaRPr lang="en-US" sz="14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2468880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104888" y="24140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Latency across presets (observed)</a:t>
            </a:r>
            <a:endParaRPr lang="en-US" sz="14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2807208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7104888" y="275234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Retrieval relevance, e.g. hit rate (to add)</a:t>
            </a:r>
            <a:endParaRPr lang="en-US" sz="14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3145536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7104888" y="309067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Answer correctness vs. reference (to add)</a:t>
            </a:r>
            <a:endParaRPr lang="en-US" sz="14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3483864"/>
            <a:ext cx="201168" cy="201168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7104888" y="342900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Faithfulness to evidence (to add)</a:t>
            </a:r>
            <a:endParaRPr lang="en-US" sz="1400" dirty="0"/>
          </a:p>
        </p:txBody>
      </p:sp>
      <p:sp>
        <p:nvSpPr>
          <p:cNvPr id="35" name="Shape 21"/>
          <p:cNvSpPr/>
          <p:nvPr/>
        </p:nvSpPr>
        <p:spPr>
          <a:xfrm>
            <a:off x="548640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2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999" y="4565599"/>
            <a:ext cx="241402" cy="241402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141732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Grounding &amp; refusal</a:t>
            </a:r>
            <a:endParaRPr lang="en-US" sz="1600" dirty="0"/>
          </a:p>
        </p:txBody>
      </p:sp>
      <p:sp>
        <p:nvSpPr>
          <p:cNvPr id="39" name="Text 24"/>
          <p:cNvSpPr txBox="1"/>
          <p:nvPr/>
        </p:nvSpPr>
        <p:spPr>
          <a:xfrm>
            <a:off x="777240" y="5120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factual_strict passed the grounding/refusal check most consistently.</a:t>
            </a:r>
            <a:endParaRPr lang="en-US" sz="1400" dirty="0"/>
          </a:p>
        </p:txBody>
      </p:sp>
      <p:sp>
        <p:nvSpPr>
          <p:cNvPr id="40" name="Shape 25"/>
          <p:cNvSpPr/>
          <p:nvPr/>
        </p:nvSpPr>
        <p:spPr>
          <a:xfrm>
            <a:off x="4311396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26"/>
          <p:cNvSpPr/>
          <p:nvPr/>
        </p:nvSpPr>
        <p:spPr>
          <a:xfrm>
            <a:off x="4539996" y="4434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0755" y="4565599"/>
            <a:ext cx="241402" cy="241402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80076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Latency</a:t>
            </a:r>
            <a:endParaRPr lang="en-US" sz="1600" dirty="0"/>
          </a:p>
        </p:txBody>
      </p:sp>
      <p:sp>
        <p:nvSpPr>
          <p:cNvPr id="44" name="Text 28"/>
          <p:cNvSpPr txBox="1"/>
          <p:nvPr/>
        </p:nvSpPr>
        <p:spPr>
          <a:xfrm>
            <a:off x="4539996" y="5120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Comparable across presets; dominated by retrieval and the API call, not temperature.</a:t>
            </a:r>
            <a:endParaRPr lang="en-US" sz="1400" dirty="0"/>
          </a:p>
        </p:txBody>
      </p:sp>
      <p:sp>
        <p:nvSpPr>
          <p:cNvPr id="45" name="Shape 29"/>
          <p:cNvSpPr/>
          <p:nvPr/>
        </p:nvSpPr>
        <p:spPr>
          <a:xfrm>
            <a:off x="8074152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0"/>
          <p:cNvSpPr/>
          <p:nvPr/>
        </p:nvSpPr>
        <p:spPr>
          <a:xfrm>
            <a:off x="8302752" y="44348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3511" y="4565599"/>
            <a:ext cx="241402" cy="241402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8942832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Confidence</a:t>
            </a:r>
            <a:endParaRPr lang="en-US" sz="1600" dirty="0"/>
          </a:p>
        </p:txBody>
      </p:sp>
      <p:sp>
        <p:nvSpPr>
          <p:cNvPr id="49" name="Text 32"/>
          <p:cNvSpPr txBox="1"/>
          <p:nvPr/>
        </p:nvSpPr>
        <p:spPr>
          <a:xfrm>
            <a:off x="8302752" y="5120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Preliminary: 7 questions, qualitative scoring. Directional evidence, not a benchmark.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&amp; Future 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4709160"/>
          </a:xfrm>
          <a:prstGeom prst="roundRect">
            <a:avLst>
              <a:gd name="adj" fmla="val 1942"/>
            </a:avLst>
          </a:prstGeom>
          <a:solidFill>
            <a:schemeClr val="tx2">
              <a:alpha val="92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DELIVERED IN THIS DEMO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57984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103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Grounded answers from approved Help Center content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15184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5603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Retrieved chunks visible for verification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7238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30175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Brand-voice persona with explicit refusals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9584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88720" y="34747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Parameter experiment: T = 0.0 favored (preliminary)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86784"/>
            <a:ext cx="219456" cy="2194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88720" y="39319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Mock Login gate in front of the RAG engine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822960" y="4526280"/>
            <a:ext cx="466344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0"/>
          <p:cNvSpPr txBox="1"/>
          <p:nvPr/>
        </p:nvSpPr>
        <p:spPr>
          <a:xfrm>
            <a:off x="822960" y="4663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CURRENT LIMITATIONS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822960" y="49834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Simulated knowledge base, 4 documents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7-question, qualitatively scored evaluation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Demo-grade authentication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608076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ROADMAP  (PROPOSED)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355080" y="2331720"/>
            <a:ext cx="0" cy="30632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4"/>
          <p:cNvSpPr/>
          <p:nvPr/>
        </p:nvSpPr>
        <p:spPr>
          <a:xfrm>
            <a:off x="6080760" y="21214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 txBox="1"/>
          <p:nvPr/>
        </p:nvSpPr>
        <p:spPr>
          <a:xfrm>
            <a:off x="608076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6858000" y="2011680"/>
            <a:ext cx="4782312" cy="1280160"/>
          </a:xfrm>
          <a:prstGeom prst="roundRect">
            <a:avLst>
              <a:gd name="adj" fmla="val 7143"/>
            </a:avLst>
          </a:prstGeom>
          <a:solidFill>
            <a:schemeClr val="tx2">
              <a:alpha val="92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 txBox="1"/>
          <p:nvPr/>
        </p:nvSpPr>
        <p:spPr>
          <a:xfrm>
            <a:off x="7086600" y="2121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Quality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7086600" y="2487168"/>
            <a:ext cx="4279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Expand knowledge-base coverage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Broaden evaluation coverage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080760" y="35844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0"/>
          <p:cNvSpPr txBox="1"/>
          <p:nvPr/>
        </p:nvSpPr>
        <p:spPr>
          <a:xfrm>
            <a:off x="6080760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6858000" y="3474720"/>
            <a:ext cx="4782312" cy="1280160"/>
          </a:xfrm>
          <a:prstGeom prst="roundRect">
            <a:avLst>
              <a:gd name="adj" fmla="val 7143"/>
            </a:avLst>
          </a:prstGeom>
          <a:solidFill>
            <a:schemeClr val="tx2">
              <a:alpha val="92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 txBox="1"/>
          <p:nvPr/>
        </p:nvSpPr>
        <p:spPr>
          <a:xfrm>
            <a:off x="7086600" y="3584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Operations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7086600" y="3950208"/>
            <a:ext cx="4279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Monitor retrieval quality and faithfulness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Feedback loop: flag KB gaps from refused queries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6080760" y="50474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 txBox="1"/>
          <p:nvPr/>
        </p:nvSpPr>
        <p:spPr>
          <a:xfrm>
            <a:off x="6080760" y="5047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33" name="Shape 26"/>
          <p:cNvSpPr/>
          <p:nvPr/>
        </p:nvSpPr>
        <p:spPr>
          <a:xfrm>
            <a:off x="6858000" y="4937760"/>
            <a:ext cx="4782312" cy="1280160"/>
          </a:xfrm>
          <a:prstGeom prst="roundRect">
            <a:avLst>
              <a:gd name="adj" fmla="val 7143"/>
            </a:avLst>
          </a:prstGeom>
          <a:solidFill>
            <a:schemeClr val="tx2">
              <a:alpha val="92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7"/>
          <p:cNvSpPr txBox="1"/>
          <p:nvPr/>
        </p:nvSpPr>
        <p:spPr>
          <a:xfrm>
            <a:off x="7086600" y="5047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Production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7086600" y="5413248"/>
            <a:ext cx="4279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Human handoff integration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Real authentication replacing Mock Login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SOURCES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297680"/>
          </a:xfrm>
          <a:prstGeom prst="roundRect">
            <a:avLst>
              <a:gd name="adj" fmla="val 212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1764060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642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</a:rPr>
              <a:t>CONCEPTS &amp; PAPERS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12848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Lewis et al. (2020)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Retrieval-Augmented Generation for Knowledge-Intensive NLP Tasks. NeurIPS. arXiv:2005.11401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0896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Wei et al. (2022)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Chain-of-Thought Prompting Elicits Reasoning in Large Language Models. arXiv:2201.11903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05072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Holtzman et al. (2020)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The Curious Case of Neural Text Degeneration (nucleus / Top-P sampling). ICLR. arXiv:1904.09751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901184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Reimers &amp; Gurevych (2019)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Sentence-BERT: Sentence Embeddings using Siamese BERT-Networks. arXiv:1908.10084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99632" y="1508760"/>
            <a:ext cx="5440680" cy="4297680"/>
          </a:xfrm>
          <a:prstGeom prst="roundRect">
            <a:avLst>
              <a:gd name="adj" fmla="val 212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28232" y="16642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084" y="1764060"/>
            <a:ext cx="184343" cy="18434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76872" y="16642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</a:rPr>
              <a:t>DOCUMENTATION &amp; SECURITY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47395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Hugging Face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all-MiniLM-L6-v2 model card: 384-d vectors, 256 word-piece limit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473952" y="28163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Chroma docs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Embedding functions: default all-MiniLM-L6-v2, runs locally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473952" y="341985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LangChain docs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RecursiveCharacterTextSplitter: size measured in characters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473952" y="4023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Groq docs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openai/gpt-oss-120b model page: MoE, 131K-token context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473952" y="462686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Streamlit docs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User authentication with OIDC: st.login, st.user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473952" y="52303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OWASP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Top 10 for LLM Applications 2025: prompt injection, data disclosure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</a:rPr>
              <a:t>Documentation describes the technologies used; it does not validate results measured by this project.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37376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flix RAG Consulting">
  <a:themeElements>
    <a:clrScheme name="Netflix RAG Consulting">
      <a:dk1>
        <a:srgbClr val="141414"/>
      </a:dk1>
      <a:lt1>
        <a:srgbClr val="FFFFFF"/>
      </a:lt1>
      <a:dk2>
        <a:srgbClr val="262629"/>
      </a:dk2>
      <a:lt2>
        <a:srgbClr val="B8B8BD"/>
      </a:lt2>
      <a:accent1>
        <a:srgbClr val="E50914"/>
      </a:accent1>
      <a:accent2>
        <a:srgbClr val="8C0A10"/>
      </a:accent2>
      <a:accent3>
        <a:srgbClr val="46D369"/>
      </a:accent3>
      <a:accent4>
        <a:srgbClr val="F5A623"/>
      </a:accent4>
      <a:accent5>
        <a:srgbClr val="3D3D44"/>
      </a:accent5>
      <a:accent6>
        <a:srgbClr val="6B6B73"/>
      </a:accent6>
      <a:hlink>
        <a:srgbClr val="E50914"/>
      </a:hlink>
      <a:folHlink>
        <a:srgbClr val="B8B8BD"/>
      </a:folHlink>
    </a:clrScheme>
    <a:fontScheme name="Netflix RAG Consult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3904</Words>
  <Application>Microsoft Office PowerPoint</Application>
  <PresentationFormat>Widescreen</PresentationFormat>
  <Paragraphs>358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Netflix RAG Consulting</vt:lpstr>
      <vt:lpstr>Netflix Customer Support Assistant: A RAG-Based AI Solution</vt:lpstr>
      <vt:lpstr>Business Use Case</vt:lpstr>
      <vt:lpstr>System Architecture</vt:lpstr>
      <vt:lpstr>Model Choice: LLM vs. SLM</vt:lpstr>
      <vt:lpstr>Data Preparation</vt:lpstr>
      <vt:lpstr>Chunking &amp; Embedding</vt:lpstr>
      <vt:lpstr>Prompt Engineering &amp; Brand Voice</vt:lpstr>
      <vt:lpstr>Generation Parameter Benchmark</vt:lpstr>
      <vt:lpstr>Streamlit Application Demo</vt:lpstr>
      <vt:lpstr>Security &amp; Responsible Access</vt:lpstr>
      <vt:lpstr>Evaluation Results</vt:lpstr>
      <vt:lpstr>Conclusion &amp; Future Roadmap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Customer Support Assistant: A RAG-Based AI Solution</dc:title>
  <dc:subject>RAG Real-Life Use Case</dc:subject>
  <dc:creator>AI Consultant Engagement</dc:creator>
  <cp:lastModifiedBy>Tanishq Rawat</cp:lastModifiedBy>
  <cp:revision>2</cp:revision>
  <dcterms:created xsi:type="dcterms:W3CDTF">2026-10-13T09:12:33Z</dcterms:created>
  <dcterms:modified xsi:type="dcterms:W3CDTF">2026-10-13T10:06:34Z</dcterms:modified>
</cp:coreProperties>
</file>